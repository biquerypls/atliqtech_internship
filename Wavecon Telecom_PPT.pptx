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61" r:id="rId3"/>
    <p:sldId id="263" r:id="rId4"/>
    <p:sldId id="265" r:id="rId5"/>
    <p:sldId id="267" r:id="rId6"/>
    <p:sldId id="268" r:id="rId7"/>
    <p:sldId id="269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882"/>
    <a:srgbClr val="E6E6E6"/>
    <a:srgbClr val="673AB7"/>
    <a:srgbClr val="9B5BFF"/>
    <a:srgbClr val="7A2FFF"/>
    <a:srgbClr val="A29DB1"/>
    <a:srgbClr val="D1D1D1"/>
    <a:srgbClr val="232129"/>
    <a:srgbClr val="F27239"/>
    <a:srgbClr val="7D3C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75" autoAdjust="0"/>
  </p:normalViewPr>
  <p:slideViewPr>
    <p:cSldViewPr snapToGrid="0">
      <p:cViewPr varScale="1">
        <p:scale>
          <a:sx n="83" d="100"/>
          <a:sy n="83" d="100"/>
        </p:scale>
        <p:origin x="6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ln>
                <a:noFill/>
              </a:ln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7327534564144873"/>
          <c:y val="0.18860657077692292"/>
          <c:w val="0.44718241400784203"/>
          <c:h val="0.7083809345883519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After_5G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780-489E-AC21-3850998A0A48}"/>
              </c:ext>
            </c:extLst>
          </c:dPt>
          <c:dPt>
            <c:idx val="1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780-489E-AC21-3850998A0A48}"/>
              </c:ext>
            </c:extLst>
          </c:dPt>
          <c:dPt>
            <c:idx val="2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780-489E-AC21-3850998A0A48}"/>
              </c:ext>
            </c:extLst>
          </c:dPt>
          <c:dPt>
            <c:idx val="3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780-489E-AC21-3850998A0A4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9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noFill/>
                    </a:ln>
                    <a:solidFill>
                      <a:schemeClr val="bg1"/>
                    </a:solidFill>
                    <a:latin typeface="Verdana Pro" panose="020B060403050404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Jan/Jun</c:v>
                </c:pt>
                <c:pt idx="1">
                  <c:v>Feb/Jul</c:v>
                </c:pt>
                <c:pt idx="2">
                  <c:v>Mar/Aug</c:v>
                </c:pt>
                <c:pt idx="3">
                  <c:v>Apr/Sep</c:v>
                </c:pt>
              </c:strCache>
            </c:strRef>
          </c:cat>
          <c:val>
            <c:numRef>
              <c:f>Sheet1!$B$2:$B$5</c:f>
              <c:numCache>
                <c:formatCode>##0,,"M"</c:formatCode>
                <c:ptCount val="4"/>
                <c:pt idx="0">
                  <c:v>3575600000</c:v>
                </c:pt>
                <c:pt idx="1">
                  <c:v>4127600000</c:v>
                </c:pt>
                <c:pt idx="2">
                  <c:v>4190800000</c:v>
                </c:pt>
                <c:pt idx="3">
                  <c:v>4002600000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780-489E-AC21-3850998A0A48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78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noFill/>
    </a:ln>
    <a:effectLst/>
  </c:spPr>
  <c:txPr>
    <a:bodyPr/>
    <a:lstStyle/>
    <a:p>
      <a:pPr>
        <a:defRPr>
          <a:ln>
            <a:noFill/>
          </a:ln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ln>
                <a:noFill/>
              </a:ln>
              <a:solidFill>
                <a:schemeClr val="tx1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8267568770533957"/>
          <c:y val="0.23889335534032344"/>
          <c:w val="0.44718241400784203"/>
          <c:h val="0.7083809345883519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Before_5G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232-47BE-93CA-ACAC6BA1C1E4}"/>
              </c:ext>
            </c:extLst>
          </c:dPt>
          <c:dPt>
            <c:idx val="1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232-47BE-93CA-ACAC6BA1C1E4}"/>
              </c:ext>
            </c:extLst>
          </c:dPt>
          <c:dPt>
            <c:idx val="2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232-47BE-93CA-ACAC6BA1C1E4}"/>
              </c:ext>
            </c:extLst>
          </c:dPt>
          <c:dPt>
            <c:idx val="3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232-47BE-93CA-ACAC6BA1C1E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90000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bg1">
                          <a:alpha val="69000"/>
                        </a:schemeClr>
                      </a:solidFill>
                    </a:ln>
                    <a:solidFill>
                      <a:srgbClr val="E6E6E6"/>
                    </a:solidFill>
                    <a:latin typeface="Verdana Pro" panose="020F0502020204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Jan/Jun</c:v>
                </c:pt>
                <c:pt idx="1">
                  <c:v>Feb/Jul</c:v>
                </c:pt>
                <c:pt idx="2">
                  <c:v>Mar/Aug</c:v>
                </c:pt>
                <c:pt idx="3">
                  <c:v>Apr/Sep</c:v>
                </c:pt>
              </c:strCache>
            </c:strRef>
          </c:cat>
          <c:val>
            <c:numRef>
              <c:f>Sheet1!$B$2:$B$5</c:f>
              <c:numCache>
                <c:formatCode>##0,,"M"</c:formatCode>
                <c:ptCount val="4"/>
                <c:pt idx="0">
                  <c:v>3543700000</c:v>
                </c:pt>
                <c:pt idx="1">
                  <c:v>4256900000</c:v>
                </c:pt>
                <c:pt idx="2">
                  <c:v>4104500000</c:v>
                </c:pt>
                <c:pt idx="3">
                  <c:v>4071900000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FB-4F59-BDE2-108213FECD7F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78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2849354707227456"/>
          <c:y val="0.12267776552706365"/>
          <c:w val="0.75554669527397178"/>
          <c:h val="8.97579556793394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ln>
                <a:noFill/>
              </a:ln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noFill/>
    </a:ln>
    <a:effectLst/>
  </c:spPr>
  <c:txPr>
    <a:bodyPr/>
    <a:lstStyle/>
    <a:p>
      <a:pPr>
        <a:defRPr>
          <a:ln>
            <a:noFill/>
          </a:ln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983383773615472E-2"/>
          <c:y val="2.245855028613003E-2"/>
          <c:w val="0.88336345175495912"/>
          <c:h val="0.7932882088564382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chemeClr val="accent1">
                <a:shade val="58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Mumbai</c:v>
                </c:pt>
                <c:pt idx="1">
                  <c:v>Delhi</c:v>
                </c:pt>
                <c:pt idx="2">
                  <c:v>Kolkata</c:v>
                </c:pt>
                <c:pt idx="3">
                  <c:v>Hyderabad</c:v>
                </c:pt>
                <c:pt idx="4">
                  <c:v>Jaipur</c:v>
                </c:pt>
                <c:pt idx="5">
                  <c:v>Lucknow</c:v>
                </c:pt>
                <c:pt idx="6">
                  <c:v>Raipur</c:v>
                </c:pt>
              </c:strCache>
            </c:strRef>
          </c:cat>
          <c:val>
            <c:numRef>
              <c:f>Sheet1!$B$2:$H$2</c:f>
              <c:numCache>
                <c:formatCode>0.0,,"M"</c:formatCode>
                <c:ptCount val="7"/>
                <c:pt idx="0">
                  <c:v>4895500000</c:v>
                </c:pt>
                <c:pt idx="1">
                  <c:v>3872000000</c:v>
                </c:pt>
                <c:pt idx="2">
                  <c:v>3843900000</c:v>
                </c:pt>
                <c:pt idx="3">
                  <c:v>2357300000</c:v>
                </c:pt>
                <c:pt idx="4">
                  <c:v>1408700000</c:v>
                </c:pt>
                <c:pt idx="5">
                  <c:v>1308400000</c:v>
                </c:pt>
                <c:pt idx="6">
                  <c:v>315400000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9B-4C0D-818E-2B54A080B22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Before_5G</c:v>
                </c:pt>
              </c:strCache>
            </c:strRef>
          </c:tx>
          <c:spPr>
            <a:solidFill>
              <a:schemeClr val="accent1">
                <a:shade val="86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Mumbai</c:v>
                </c:pt>
                <c:pt idx="1">
                  <c:v>Delhi</c:v>
                </c:pt>
                <c:pt idx="2">
                  <c:v>Kolkata</c:v>
                </c:pt>
                <c:pt idx="3">
                  <c:v>Hyderabad</c:v>
                </c:pt>
                <c:pt idx="4">
                  <c:v>Jaipur</c:v>
                </c:pt>
                <c:pt idx="5">
                  <c:v>Lucknow</c:v>
                </c:pt>
                <c:pt idx="6">
                  <c:v>Raipur</c:v>
                </c:pt>
              </c:strCache>
            </c:strRef>
          </c:cat>
          <c:val>
            <c:numRef>
              <c:f>Sheet1!$B$3:$H$3</c:f>
              <c:numCache>
                <c:formatCode>0.0,,"M"</c:formatCode>
                <c:ptCount val="7"/>
                <c:pt idx="0">
                  <c:v>2444000000</c:v>
                </c:pt>
                <c:pt idx="1">
                  <c:v>1963800000</c:v>
                </c:pt>
                <c:pt idx="2">
                  <c:v>1925500000</c:v>
                </c:pt>
                <c:pt idx="3">
                  <c:v>1186300000</c:v>
                </c:pt>
                <c:pt idx="4">
                  <c:v>700900000</c:v>
                </c:pt>
                <c:pt idx="5">
                  <c:v>648300000</c:v>
                </c:pt>
                <c:pt idx="6">
                  <c:v>156800000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9B-4C0D-818E-2B54A080B229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After_5G</c:v>
                </c:pt>
              </c:strCache>
            </c:strRef>
          </c:tx>
          <c:spPr>
            <a:solidFill>
              <a:schemeClr val="accent1">
                <a:tint val="86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Mumbai</c:v>
                </c:pt>
                <c:pt idx="1">
                  <c:v>Delhi</c:v>
                </c:pt>
                <c:pt idx="2">
                  <c:v>Kolkata</c:v>
                </c:pt>
                <c:pt idx="3">
                  <c:v>Hyderabad</c:v>
                </c:pt>
                <c:pt idx="4">
                  <c:v>Jaipur</c:v>
                </c:pt>
                <c:pt idx="5">
                  <c:v>Lucknow</c:v>
                </c:pt>
                <c:pt idx="6">
                  <c:v>Raipur</c:v>
                </c:pt>
              </c:strCache>
            </c:strRef>
          </c:cat>
          <c:val>
            <c:numRef>
              <c:f>Sheet1!$B$4:$H$4</c:f>
              <c:numCache>
                <c:formatCode>0.0,,"M"</c:formatCode>
                <c:ptCount val="7"/>
                <c:pt idx="0">
                  <c:v>2451500000</c:v>
                </c:pt>
                <c:pt idx="1">
                  <c:v>1908200000</c:v>
                </c:pt>
                <c:pt idx="2">
                  <c:v>1918400000</c:v>
                </c:pt>
                <c:pt idx="3">
                  <c:v>1171000000</c:v>
                </c:pt>
                <c:pt idx="4">
                  <c:v>707800000</c:v>
                </c:pt>
                <c:pt idx="5">
                  <c:v>660100000</c:v>
                </c:pt>
                <c:pt idx="6">
                  <c:v>158600000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9B-4C0D-818E-2B54A080B229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Chg%</c:v>
                </c:pt>
              </c:strCache>
            </c:strRef>
          </c:tx>
          <c:spPr>
            <a:solidFill>
              <a:schemeClr val="accent1">
                <a:tint val="58000"/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Mumbai</c:v>
                </c:pt>
                <c:pt idx="1">
                  <c:v>Delhi</c:v>
                </c:pt>
                <c:pt idx="2">
                  <c:v>Kolkata</c:v>
                </c:pt>
                <c:pt idx="3">
                  <c:v>Hyderabad</c:v>
                </c:pt>
                <c:pt idx="4">
                  <c:v>Jaipur</c:v>
                </c:pt>
                <c:pt idx="5">
                  <c:v>Lucknow</c:v>
                </c:pt>
                <c:pt idx="6">
                  <c:v>Raipur</c:v>
                </c:pt>
              </c:strCache>
            </c:strRef>
          </c:cat>
          <c:val>
            <c:numRef>
              <c:f>Sheet1!$B$5:$H$5</c:f>
              <c:numCache>
                <c:formatCode>0.00%</c:formatCode>
                <c:ptCount val="7"/>
                <c:pt idx="0">
                  <c:v>3.0999999999999999E-3</c:v>
                </c:pt>
                <c:pt idx="1">
                  <c:v>-2.8299999999999999E-2</c:v>
                </c:pt>
                <c:pt idx="2">
                  <c:v>-3.7000000000000002E-3</c:v>
                </c:pt>
                <c:pt idx="3">
                  <c:v>-1.29E-2</c:v>
                </c:pt>
                <c:pt idx="4">
                  <c:v>9.7999999999999997E-3</c:v>
                </c:pt>
                <c:pt idx="5">
                  <c:v>1.8200000000000001E-2</c:v>
                </c:pt>
                <c:pt idx="6">
                  <c:v>1.15E-2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59B-4C0D-818E-2B54A080B2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332279344"/>
        <c:axId val="1332280784"/>
      </c:barChart>
      <c:catAx>
        <c:axId val="13322793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332280784"/>
        <c:crosses val="autoZero"/>
        <c:auto val="1"/>
        <c:lblAlgn val="ctr"/>
        <c:lblOffset val="100"/>
        <c:noMultiLvlLbl val="0"/>
      </c:catAx>
      <c:valAx>
        <c:axId val="1332280784"/>
        <c:scaling>
          <c:orientation val="minMax"/>
        </c:scaling>
        <c:delete val="1"/>
        <c:axPos val="b"/>
        <c:numFmt formatCode="0.0,,&quot;M&quot;" sourceLinked="1"/>
        <c:majorTickMark val="none"/>
        <c:minorTickMark val="none"/>
        <c:tickLblPos val="nextTo"/>
        <c:crossAx val="133227934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Users by City (Before vs After 5G)</a:t>
            </a:r>
            <a:endParaRPr lang="en-IN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1329201508584825"/>
          <c:y val="0.25896129641141735"/>
          <c:w val="0.90372250713657676"/>
          <c:h val="0.54965628419659907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Before_5G</c:v>
                </c:pt>
              </c:strCache>
            </c:strRef>
          </c:tx>
          <c:spPr>
            <a:solidFill>
              <a:schemeClr val="accent5">
                <a:shade val="65000"/>
              </a:schemeClr>
            </a:solidFill>
            <a:ln>
              <a:noFill/>
            </a:ln>
            <a:effectLst/>
          </c:spPr>
          <c:cat>
            <c:strRef>
              <c:f>Sheet1!$A$2:$A$10</c:f>
              <c:strCache>
                <c:ptCount val="9"/>
                <c:pt idx="0">
                  <c:v>Ahmedabad</c:v>
                </c:pt>
                <c:pt idx="1">
                  <c:v>Bangalore</c:v>
                </c:pt>
                <c:pt idx="2">
                  <c:v>Chennai</c:v>
                </c:pt>
                <c:pt idx="3">
                  <c:v>Delhi</c:v>
                </c:pt>
                <c:pt idx="4">
                  <c:v>Hyderabad</c:v>
                </c:pt>
                <c:pt idx="5">
                  <c:v>Kolkata</c:v>
                </c:pt>
                <c:pt idx="6">
                  <c:v>Lucknow</c:v>
                </c:pt>
                <c:pt idx="7">
                  <c:v>Mumbai</c:v>
                </c:pt>
                <c:pt idx="8">
                  <c:v>Pune</c:v>
                </c:pt>
              </c:strCache>
            </c:strRef>
          </c:cat>
          <c:val>
            <c:numRef>
              <c:f>Sheet1!$B$2:$B$10</c:f>
              <c:numCache>
                <c:formatCode>0,,\ "M"</c:formatCode>
                <c:ptCount val="9"/>
                <c:pt idx="0">
                  <c:v>5351000</c:v>
                </c:pt>
                <c:pt idx="1">
                  <c:v>9654000</c:v>
                </c:pt>
                <c:pt idx="2">
                  <c:v>7391000</c:v>
                </c:pt>
                <c:pt idx="3">
                  <c:v>10817000</c:v>
                </c:pt>
                <c:pt idx="4">
                  <c:v>6060000</c:v>
                </c:pt>
                <c:pt idx="5">
                  <c:v>10431000</c:v>
                </c:pt>
                <c:pt idx="6">
                  <c:v>3171000</c:v>
                </c:pt>
                <c:pt idx="7">
                  <c:v>12534000</c:v>
                </c:pt>
                <c:pt idx="8">
                  <c:v>6451000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C6-4762-8BBB-85A5155747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After_5G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cat>
            <c:strRef>
              <c:f>Sheet1!$A$2:$A$10</c:f>
              <c:strCache>
                <c:ptCount val="9"/>
                <c:pt idx="0">
                  <c:v>Ahmedabad</c:v>
                </c:pt>
                <c:pt idx="1">
                  <c:v>Bangalore</c:v>
                </c:pt>
                <c:pt idx="2">
                  <c:v>Chennai</c:v>
                </c:pt>
                <c:pt idx="3">
                  <c:v>Delhi</c:v>
                </c:pt>
                <c:pt idx="4">
                  <c:v>Hyderabad</c:v>
                </c:pt>
                <c:pt idx="5">
                  <c:v>Kolkata</c:v>
                </c:pt>
                <c:pt idx="6">
                  <c:v>Lucknow</c:v>
                </c:pt>
                <c:pt idx="7">
                  <c:v>Mumbai</c:v>
                </c:pt>
                <c:pt idx="8">
                  <c:v>Pune</c:v>
                </c:pt>
              </c:strCache>
            </c:strRef>
          </c:cat>
          <c:val>
            <c:numRef>
              <c:f>Sheet1!$C$2:$C$10</c:f>
              <c:numCache>
                <c:formatCode>0,,\ "M"</c:formatCode>
                <c:ptCount val="9"/>
                <c:pt idx="0">
                  <c:v>4338000</c:v>
                </c:pt>
                <c:pt idx="1">
                  <c:v>8308000</c:v>
                </c:pt>
                <c:pt idx="2">
                  <c:v>7417000</c:v>
                </c:pt>
                <c:pt idx="3">
                  <c:v>8910000</c:v>
                </c:pt>
                <c:pt idx="4">
                  <c:v>5607000</c:v>
                </c:pt>
                <c:pt idx="5">
                  <c:v>9936000</c:v>
                </c:pt>
                <c:pt idx="6">
                  <c:v>3255000</c:v>
                </c:pt>
                <c:pt idx="7">
                  <c:v>10735000</c:v>
                </c:pt>
                <c:pt idx="8">
                  <c:v>7616000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C6-4762-8BBB-85A5155747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6625839"/>
        <c:axId val="566623919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Chg%</c:v>
                </c:pt>
              </c:strCache>
            </c:strRef>
          </c:tx>
          <c:spPr>
            <a:ln w="28575" cap="rnd">
              <a:solidFill>
                <a:schemeClr val="accent5">
                  <a:tint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tint val="65000"/>
                </a:schemeClr>
              </a:solidFill>
              <a:ln w="9525">
                <a:solidFill>
                  <a:schemeClr val="accent5">
                    <a:tint val="65000"/>
                  </a:schemeClr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Ahmedabad</c:v>
                </c:pt>
                <c:pt idx="1">
                  <c:v>Bangalore</c:v>
                </c:pt>
                <c:pt idx="2">
                  <c:v>Chennai</c:v>
                </c:pt>
                <c:pt idx="3">
                  <c:v>Delhi</c:v>
                </c:pt>
                <c:pt idx="4">
                  <c:v>Hyderabad</c:v>
                </c:pt>
                <c:pt idx="5">
                  <c:v>Kolkata</c:v>
                </c:pt>
                <c:pt idx="6">
                  <c:v>Lucknow</c:v>
                </c:pt>
                <c:pt idx="7">
                  <c:v>Mumbai</c:v>
                </c:pt>
                <c:pt idx="8">
                  <c:v>Pune</c:v>
                </c:pt>
              </c:strCache>
            </c:strRef>
          </c:cat>
          <c:val>
            <c:numRef>
              <c:f>Sheet1!$D$2:$D$10</c:f>
              <c:numCache>
                <c:formatCode>0.00%</c:formatCode>
                <c:ptCount val="9"/>
                <c:pt idx="0">
                  <c:v>-0.1893</c:v>
                </c:pt>
                <c:pt idx="1">
                  <c:v>-0.1394</c:v>
                </c:pt>
                <c:pt idx="2">
                  <c:v>3.5000000000000001E-3</c:v>
                </c:pt>
                <c:pt idx="3">
                  <c:v>-0.17630000000000001</c:v>
                </c:pt>
                <c:pt idx="4">
                  <c:v>-7.4800000000000005E-2</c:v>
                </c:pt>
                <c:pt idx="5">
                  <c:v>-4.7500000000000001E-2</c:v>
                </c:pt>
                <c:pt idx="6">
                  <c:v>2.6499999999999999E-2</c:v>
                </c:pt>
                <c:pt idx="7">
                  <c:v>-0.14349999999999999</c:v>
                </c:pt>
                <c:pt idx="8">
                  <c:v>0.18060000000000001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6C6-4762-8BBB-85A5155747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6625839"/>
        <c:axId val="566623919"/>
      </c:lineChart>
      <c:catAx>
        <c:axId val="5666258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623919"/>
        <c:crosses val="autoZero"/>
        <c:auto val="1"/>
        <c:lblAlgn val="ctr"/>
        <c:lblOffset val="100"/>
        <c:noMultiLvlLbl val="0"/>
      </c:catAx>
      <c:valAx>
        <c:axId val="566623919"/>
        <c:scaling>
          <c:orientation val="minMax"/>
        </c:scaling>
        <c:delete val="1"/>
        <c:axPos val="l"/>
        <c:numFmt formatCode="0,,\ &quot;M&quot;" sourceLinked="1"/>
        <c:majorTickMark val="out"/>
        <c:minorTickMark val="none"/>
        <c:tickLblPos val="nextTo"/>
        <c:crossAx val="566625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Unsubscribers</a:t>
            </a:r>
            <a:r>
              <a:rPr lang="en-US" sz="1200" b="1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City (Before vs After 5G)</a:t>
            </a:r>
            <a:endParaRPr lang="en-IN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9.3508135065240847E-2"/>
          <c:y val="0.28655149051490514"/>
          <c:w val="0.87042551834723703"/>
          <c:h val="0.495651535682023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Before_5G</c:v>
                </c:pt>
              </c:strCache>
            </c:strRef>
          </c:tx>
          <c:spPr>
            <a:ln w="28575" cap="rnd">
              <a:solidFill>
                <a:schemeClr val="accent5">
                  <a:shade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shade val="65000"/>
                </a:schemeClr>
              </a:solidFill>
              <a:ln w="9525">
                <a:solidFill>
                  <a:schemeClr val="accent5">
                    <a:shade val="65000"/>
                  </a:schemeClr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Ahmedabad</c:v>
                </c:pt>
                <c:pt idx="1">
                  <c:v>Bangalore</c:v>
                </c:pt>
                <c:pt idx="2">
                  <c:v>Chennai</c:v>
                </c:pt>
                <c:pt idx="3">
                  <c:v>Delhi</c:v>
                </c:pt>
                <c:pt idx="4">
                  <c:v>Hyderabad</c:v>
                </c:pt>
                <c:pt idx="5">
                  <c:v>Kolkata</c:v>
                </c:pt>
                <c:pt idx="6">
                  <c:v>Lucknow</c:v>
                </c:pt>
                <c:pt idx="7">
                  <c:v>Mumbai</c:v>
                </c:pt>
                <c:pt idx="8">
                  <c:v>Pune</c:v>
                </c:pt>
              </c:strCache>
            </c:strRef>
          </c:cat>
          <c:val>
            <c:numRef>
              <c:f>Sheet1!$B$2:$B$10</c:f>
              <c:numCache>
                <c:formatCode>0,"K"</c:formatCode>
                <c:ptCount val="9"/>
                <c:pt idx="0">
                  <c:v>332000</c:v>
                </c:pt>
                <c:pt idx="1">
                  <c:v>571000</c:v>
                </c:pt>
                <c:pt idx="2">
                  <c:v>517000</c:v>
                </c:pt>
                <c:pt idx="3">
                  <c:v>770000</c:v>
                </c:pt>
                <c:pt idx="4">
                  <c:v>386000</c:v>
                </c:pt>
                <c:pt idx="5">
                  <c:v>693000</c:v>
                </c:pt>
                <c:pt idx="6">
                  <c:v>172000</c:v>
                </c:pt>
                <c:pt idx="7">
                  <c:v>958000</c:v>
                </c:pt>
                <c:pt idx="8">
                  <c:v>434000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045-4E11-960C-DA6B826C38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After_5G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Ahmedabad</c:v>
                </c:pt>
                <c:pt idx="1">
                  <c:v>Bangalore</c:v>
                </c:pt>
                <c:pt idx="2">
                  <c:v>Chennai</c:v>
                </c:pt>
                <c:pt idx="3">
                  <c:v>Delhi</c:v>
                </c:pt>
                <c:pt idx="4">
                  <c:v>Hyderabad</c:v>
                </c:pt>
                <c:pt idx="5">
                  <c:v>Kolkata</c:v>
                </c:pt>
                <c:pt idx="6">
                  <c:v>Lucknow</c:v>
                </c:pt>
                <c:pt idx="7">
                  <c:v>Mumbai</c:v>
                </c:pt>
                <c:pt idx="8">
                  <c:v>Pune</c:v>
                </c:pt>
              </c:strCache>
            </c:strRef>
          </c:cat>
          <c:val>
            <c:numRef>
              <c:f>Sheet1!$C$2:$C$10</c:f>
              <c:numCache>
                <c:formatCode>0,"K"</c:formatCode>
                <c:ptCount val="9"/>
                <c:pt idx="0">
                  <c:v>386000</c:v>
                </c:pt>
                <c:pt idx="1">
                  <c:v>689000</c:v>
                </c:pt>
                <c:pt idx="2">
                  <c:v>708000</c:v>
                </c:pt>
                <c:pt idx="3">
                  <c:v>898000</c:v>
                </c:pt>
                <c:pt idx="4">
                  <c:v>533000</c:v>
                </c:pt>
                <c:pt idx="5">
                  <c:v>886000</c:v>
                </c:pt>
                <c:pt idx="6">
                  <c:v>306000</c:v>
                </c:pt>
                <c:pt idx="7">
                  <c:v>837000</c:v>
                </c:pt>
                <c:pt idx="8">
                  <c:v>674000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045-4E11-960C-DA6B826C38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Chg%</c:v>
                </c:pt>
              </c:strCache>
            </c:strRef>
          </c:tx>
          <c:spPr>
            <a:ln w="28575" cap="rnd">
              <a:solidFill>
                <a:schemeClr val="accent5">
                  <a:tint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tint val="65000"/>
                </a:schemeClr>
              </a:solidFill>
              <a:ln w="9525">
                <a:solidFill>
                  <a:schemeClr val="accent5">
                    <a:tint val="65000"/>
                  </a:schemeClr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Ahmedabad</c:v>
                </c:pt>
                <c:pt idx="1">
                  <c:v>Bangalore</c:v>
                </c:pt>
                <c:pt idx="2">
                  <c:v>Chennai</c:v>
                </c:pt>
                <c:pt idx="3">
                  <c:v>Delhi</c:v>
                </c:pt>
                <c:pt idx="4">
                  <c:v>Hyderabad</c:v>
                </c:pt>
                <c:pt idx="5">
                  <c:v>Kolkata</c:v>
                </c:pt>
                <c:pt idx="6">
                  <c:v>Lucknow</c:v>
                </c:pt>
                <c:pt idx="7">
                  <c:v>Mumbai</c:v>
                </c:pt>
                <c:pt idx="8">
                  <c:v>Pune</c:v>
                </c:pt>
              </c:strCache>
            </c:strRef>
          </c:cat>
          <c:val>
            <c:numRef>
              <c:f>Sheet1!$D$2:$D$10</c:f>
              <c:numCache>
                <c:formatCode>0.00%</c:formatCode>
                <c:ptCount val="9"/>
                <c:pt idx="0">
                  <c:v>0.16270000000000001</c:v>
                </c:pt>
                <c:pt idx="1">
                  <c:v>0.20669999999999999</c:v>
                </c:pt>
                <c:pt idx="2">
                  <c:v>0.36940000000000001</c:v>
                </c:pt>
                <c:pt idx="3">
                  <c:v>0.16619999999999999</c:v>
                </c:pt>
                <c:pt idx="4">
                  <c:v>0.38080000000000003</c:v>
                </c:pt>
                <c:pt idx="5">
                  <c:v>0.27850000000000003</c:v>
                </c:pt>
                <c:pt idx="6">
                  <c:v>0.77910000000000001</c:v>
                </c:pt>
                <c:pt idx="7">
                  <c:v>-0.1263</c:v>
                </c:pt>
                <c:pt idx="8">
                  <c:v>0.55300000000000005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045-4E11-960C-DA6B826C3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6625839"/>
        <c:axId val="566623919"/>
      </c:lineChart>
      <c:catAx>
        <c:axId val="5666258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623919"/>
        <c:crosses val="autoZero"/>
        <c:auto val="1"/>
        <c:lblAlgn val="ctr"/>
        <c:lblOffset val="100"/>
        <c:noMultiLvlLbl val="0"/>
      </c:catAx>
      <c:valAx>
        <c:axId val="566623919"/>
        <c:scaling>
          <c:orientation val="minMax"/>
        </c:scaling>
        <c:delete val="1"/>
        <c:axPos val="l"/>
        <c:numFmt formatCode="0,&quot;K&quot;" sourceLinked="1"/>
        <c:majorTickMark val="out"/>
        <c:minorTickMark val="none"/>
        <c:tickLblPos val="nextTo"/>
        <c:crossAx val="566625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452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97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20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51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753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87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8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514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06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053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726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694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925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094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594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438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38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1B3A7C0-8BCC-47D2-B66E-1500E2E0317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A815DB0-9A33-4926-BFDC-F0607F00B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powerbi.com/view?r=eyJrIjoiOWM3YjAyZTgtMDViNi00MWZjLTkwMDYtZmZlYzg1ODk2OGI1IiwidCI6ImM2ZTU0OWIzLTVmNDUtNDAzMi1hYWU5LWQ0MjQ0ZGM1YjJjNCJ9" TargetMode="External"/><Relationship Id="rId3" Type="http://schemas.openxmlformats.org/officeDocument/2006/relationships/hyperlink" Target="https://slideworks.io/resources/30-real-bain-presentations" TargetMode="External"/><Relationship Id="rId7" Type="http://schemas.openxmlformats.org/officeDocument/2006/relationships/hyperlink" Target="https://codebasics.io/courses/bootcamp/1/Virtual-Internship/lecture/1376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search?sca_esv=45af21cbca4aa7f8&amp;lns_surface=26&amp;authuser=0&amp;biw=1536&amp;bih=742&amp;hl=en-IN&amp;cs=1&amp;sxsrf=AE3TifN-AvU9b0VwCBLm-kZ3RFro8KKi0g:1762438905703&amp;q=AtliQ+Technologies+logo&amp;sa=X&amp;ved=2ahUKEwiyuabH3N2QAxUrs1YBHTP-L18Q9_gLKAB6BAhREAE#vhid=f7oZZPDqItu17M&amp;vssid=_Bq8MaYmGEviE4-EP2cyigAY_44" TargetMode="External"/><Relationship Id="rId5" Type="http://schemas.openxmlformats.org/officeDocument/2006/relationships/hyperlink" Target="https://www.pexels.com/photo/weathered-telecommunications-tower-against-overcast-sky-29005053/" TargetMode="External"/><Relationship Id="rId4" Type="http://schemas.openxmlformats.org/officeDocument/2006/relationships/hyperlink" Target="https://unsplash.com/photos/a-person-holding-a-cell-phone-in-their-hand-exv1JefGzTU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2881079-9B21-0F74-C0E1-B31D7A64A6DE}"/>
              </a:ext>
            </a:extLst>
          </p:cNvPr>
          <p:cNvSpPr/>
          <p:nvPr/>
        </p:nvSpPr>
        <p:spPr>
          <a:xfrm>
            <a:off x="0" y="3640349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36A852-D442-08AC-C354-330583F4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158B86-2721-6D34-F318-238321BF388A}"/>
              </a:ext>
            </a:extLst>
          </p:cNvPr>
          <p:cNvCxnSpPr>
            <a:cxnSpLocks/>
          </p:cNvCxnSpPr>
          <p:nvPr/>
        </p:nvCxnSpPr>
        <p:spPr>
          <a:xfrm>
            <a:off x="246000" y="6381139"/>
            <a:ext cx="11700000" cy="0"/>
          </a:xfrm>
          <a:prstGeom prst="line">
            <a:avLst/>
          </a:prstGeom>
          <a:ln>
            <a:solidFill>
              <a:srgbClr val="6E68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C4CEC9-8BFB-C7F0-1551-7E749379D08A}"/>
              </a:ext>
            </a:extLst>
          </p:cNvPr>
          <p:cNvSpPr txBox="1"/>
          <p:nvPr/>
        </p:nvSpPr>
        <p:spPr>
          <a:xfrm>
            <a:off x="2671052" y="6447666"/>
            <a:ext cx="8130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is part of data analytics internship by code basics and was prepared solely for learning purpose.</a:t>
            </a:r>
            <a:endParaRPr lang="en-IN" sz="1050" dirty="0">
              <a:solidFill>
                <a:srgbClr val="6E68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33560-4B68-1F1D-C9E4-485A0DA588F0}"/>
              </a:ext>
            </a:extLst>
          </p:cNvPr>
          <p:cNvSpPr/>
          <p:nvPr/>
        </p:nvSpPr>
        <p:spPr>
          <a:xfrm>
            <a:off x="246000" y="2252164"/>
            <a:ext cx="5799072" cy="297370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>
                <a:solidFill>
                  <a:srgbClr val="F27239"/>
                </a:solidFill>
                <a:latin typeface="Berlin Sans FB Demi" panose="020E0802020502020306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Wavecon Telecom</a:t>
            </a:r>
          </a:p>
          <a:p>
            <a:r>
              <a:rPr lang="en-US" sz="2400" dirty="0">
                <a:solidFill>
                  <a:srgbClr val="A29DB1"/>
                </a:solidFill>
                <a:latin typeface="Bahnschrift" panose="020B0502040204020203" pitchFamily="34" charset="0"/>
                <a:ea typeface="HGMaruGothicMPRO" panose="020B0400000000000000" pitchFamily="34" charset="-128"/>
                <a:cs typeface="Segoe UI" panose="020B0502040204020203" pitchFamily="34" charset="0"/>
              </a:rPr>
              <a:t> Insights from Power BI Dashboard</a:t>
            </a:r>
          </a:p>
          <a:p>
            <a:r>
              <a:rPr lang="en-US" dirty="0">
                <a:solidFill>
                  <a:srgbClr val="6E6882"/>
                </a:solidFill>
                <a:latin typeface="Segoe UI" panose="020B0502040204020203" pitchFamily="34" charset="0"/>
                <a:ea typeface="HGMaruGothicMPRO" panose="020B0400000000000000" pitchFamily="34" charset="-128"/>
                <a:cs typeface="Segoe UI" panose="020B0502040204020203" pitchFamily="34" charset="0"/>
              </a:rPr>
              <a:t> </a:t>
            </a:r>
            <a:endParaRPr lang="en-IN" sz="2000" dirty="0">
              <a:solidFill>
                <a:srgbClr val="6E6882"/>
              </a:solidFill>
              <a:latin typeface="Bahnschrift" panose="020B0502040204020203" pitchFamily="34" charset="0"/>
              <a:ea typeface="HGMaruGothicMPRO" panose="020B04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13" name="Picture 12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5D1D9764-AFC8-1F52-9BE0-6805D48BA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06" y="153215"/>
            <a:ext cx="720000" cy="720000"/>
          </a:xfrm>
          <a:prstGeom prst="rect">
            <a:avLst/>
          </a:prstGeom>
        </p:spPr>
      </p:pic>
      <p:pic>
        <p:nvPicPr>
          <p:cNvPr id="19" name="Picture 18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A77B787B-BF26-2966-5D67-518889B6D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" t="56" r="56" b="15428"/>
          <a:stretch>
            <a:fillRect/>
          </a:stretch>
        </p:blipFill>
        <p:spPr>
          <a:xfrm>
            <a:off x="383160" y="2485267"/>
            <a:ext cx="2596896" cy="135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3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4E478-9464-F8B3-3E77-10AE285C7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797E18E-4746-A9F3-CAD4-4ED1DF18F5C1}"/>
              </a:ext>
            </a:extLst>
          </p:cNvPr>
          <p:cNvSpPr/>
          <p:nvPr/>
        </p:nvSpPr>
        <p:spPr>
          <a:xfrm>
            <a:off x="0" y="3640349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2A3F34-BB97-8B12-9314-20AF87BA2641}"/>
              </a:ext>
            </a:extLst>
          </p:cNvPr>
          <p:cNvSpPr/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98BB18-FC99-4AA3-631B-FFC048E2893F}"/>
              </a:ext>
            </a:extLst>
          </p:cNvPr>
          <p:cNvSpPr>
            <a:spLocks/>
          </p:cNvSpPr>
          <p:nvPr/>
        </p:nvSpPr>
        <p:spPr>
          <a:xfrm>
            <a:off x="533735" y="437460"/>
            <a:ext cx="6813168" cy="57949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F3E32-6D99-62D5-3C66-74A6631196D9}"/>
              </a:ext>
            </a:extLst>
          </p:cNvPr>
          <p:cNvSpPr txBox="1"/>
          <p:nvPr/>
        </p:nvSpPr>
        <p:spPr>
          <a:xfrm>
            <a:off x="827231" y="717393"/>
            <a:ext cx="470001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Wavecon</a:t>
            </a:r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is a premier telecom provider in India, renowned for delivering reliable and cutting-edge services. </a:t>
            </a:r>
          </a:p>
          <a:p>
            <a:endParaRPr lang="en-US" dirty="0">
              <a:solidFill>
                <a:srgbClr val="A29DB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</a:t>
            </a:r>
            <a:r>
              <a:rPr lang="en-US" b="1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May 2022</a:t>
            </a:r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Wavecon achieved a significant milestone by introducing its </a:t>
            </a:r>
            <a:r>
              <a:rPr lang="en-US" b="1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latest 5G services</a:t>
            </a:r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aiming to offer fast and reliable connectivity to customers. This advancement benefits both individuals and businesses by </a:t>
            </a:r>
            <a:r>
              <a:rPr lang="en-US" b="1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fostering creativity </a:t>
            </a:r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</a:t>
            </a:r>
            <a:r>
              <a:rPr lang="en-US" b="1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innovation</a:t>
            </a:r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Wavecon operates across </a:t>
            </a:r>
            <a:r>
              <a:rPr lang="en-US" b="1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15 major cities</a:t>
            </a:r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India, maintaining a strong and widespread presence and striving to provide uninterrupted connectivity to its users.</a:t>
            </a:r>
          </a:p>
          <a:p>
            <a:endParaRPr lang="en-US" dirty="0">
              <a:solidFill>
                <a:srgbClr val="A29DB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introduction of 5G services marks a new chapter in Wavecon's history of technological excellence. </a:t>
            </a:r>
            <a:endParaRPr lang="en-IN" dirty="0">
              <a:solidFill>
                <a:srgbClr val="A29DB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8D42DC67-FF1E-5DD4-2C40-B538D392D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000" y="6442343"/>
            <a:ext cx="360000" cy="360000"/>
          </a:xfrm>
          <a:prstGeom prst="rect">
            <a:avLst/>
          </a:prstGeom>
        </p:spPr>
      </p:pic>
      <p:pic>
        <p:nvPicPr>
          <p:cNvPr id="7" name="Picture 6" descr="A tall metal tower with antennas&#10;&#10;AI-generated content may be incorrect.">
            <a:extLst>
              <a:ext uri="{FF2B5EF4-FFF2-40B4-BE49-F238E27FC236}">
                <a16:creationId xmlns:a16="http://schemas.microsoft.com/office/drawing/2014/main" id="{4FE2EAFE-D8BE-C5BF-7EA5-63EE04BAA9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903" y="437461"/>
            <a:ext cx="4364671" cy="579495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3728E7-9C70-A007-A233-870EE715BEA4}"/>
              </a:ext>
            </a:extLst>
          </p:cNvPr>
          <p:cNvCxnSpPr>
            <a:cxnSpLocks/>
          </p:cNvCxnSpPr>
          <p:nvPr/>
        </p:nvCxnSpPr>
        <p:spPr>
          <a:xfrm>
            <a:off x="246000" y="6381139"/>
            <a:ext cx="11700000" cy="0"/>
          </a:xfrm>
          <a:prstGeom prst="line">
            <a:avLst/>
          </a:prstGeom>
          <a:ln>
            <a:solidFill>
              <a:srgbClr val="6E68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EE4A467-E04C-2259-B25B-1081AF9DE6DE}"/>
              </a:ext>
            </a:extLst>
          </p:cNvPr>
          <p:cNvSpPr txBox="1"/>
          <p:nvPr/>
        </p:nvSpPr>
        <p:spPr>
          <a:xfrm>
            <a:off x="2671052" y="6447666"/>
            <a:ext cx="8130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is part of data analytics internship by code basics and was prepared solely for learning purpose.</a:t>
            </a:r>
            <a:endParaRPr lang="en-IN" sz="1050" dirty="0">
              <a:solidFill>
                <a:srgbClr val="6E68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BF034-3B4E-AD7E-A181-34E309AB6A0A}"/>
              </a:ext>
            </a:extLst>
          </p:cNvPr>
          <p:cNvSpPr txBox="1"/>
          <p:nvPr/>
        </p:nvSpPr>
        <p:spPr>
          <a:xfrm>
            <a:off x="5820743" y="2848142"/>
            <a:ext cx="46661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About </a:t>
            </a:r>
          </a:p>
          <a:p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Wavecon Telecom</a:t>
            </a:r>
          </a:p>
        </p:txBody>
      </p:sp>
    </p:spTree>
    <p:extLst>
      <p:ext uri="{BB962C8B-B14F-4D97-AF65-F5344CB8AC3E}">
        <p14:creationId xmlns:p14="http://schemas.microsoft.com/office/powerpoint/2010/main" val="3372454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CE5B-0B74-AB23-464C-33D3967F5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01861EC-4649-114A-3C4A-C3458836FDAD}"/>
              </a:ext>
            </a:extLst>
          </p:cNvPr>
          <p:cNvSpPr/>
          <p:nvPr/>
        </p:nvSpPr>
        <p:spPr>
          <a:xfrm>
            <a:off x="0" y="3640349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05874C-2DEF-1C6D-4863-1C60C8BB4218}"/>
              </a:ext>
            </a:extLst>
          </p:cNvPr>
          <p:cNvSpPr/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4BF0FD-1513-1362-4BA9-414D8E30BE17}"/>
              </a:ext>
            </a:extLst>
          </p:cNvPr>
          <p:cNvSpPr>
            <a:spLocks/>
          </p:cNvSpPr>
          <p:nvPr/>
        </p:nvSpPr>
        <p:spPr>
          <a:xfrm>
            <a:off x="472775" y="412835"/>
            <a:ext cx="7114713" cy="57949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9587C8-29AC-0556-6736-1DE964B46BE6}"/>
              </a:ext>
            </a:extLst>
          </p:cNvPr>
          <p:cNvSpPr txBox="1"/>
          <p:nvPr/>
        </p:nvSpPr>
        <p:spPr>
          <a:xfrm>
            <a:off x="713649" y="630502"/>
            <a:ext cx="56610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After 5G launch they have seen the </a:t>
            </a:r>
            <a:r>
              <a:rPr lang="en-US" b="1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decline in the revenue</a:t>
            </a:r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b="1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 users</a:t>
            </a:r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So, they want to know about the following objectives.</a:t>
            </a:r>
          </a:p>
          <a:p>
            <a:endParaRPr lang="en-US" dirty="0">
              <a:solidFill>
                <a:srgbClr val="A29DB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 What is the impact of the 5G launch on our revenue?</a:t>
            </a:r>
          </a:p>
          <a:p>
            <a:endParaRPr lang="en-US" dirty="0">
              <a:solidFill>
                <a:srgbClr val="A29DB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Which KPI is underperforming after the 5G launch?</a:t>
            </a:r>
          </a:p>
          <a:p>
            <a:endParaRPr lang="en-US" dirty="0">
              <a:solidFill>
                <a:srgbClr val="A29DB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After the 5G launch, which plans are performing well in terms of revenue? Which plans are not performing well?</a:t>
            </a:r>
          </a:p>
          <a:p>
            <a:endParaRPr lang="en-US" dirty="0">
              <a:solidFill>
                <a:srgbClr val="A29DB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Is there any plan affected largely by the 5G launch? Should we continue or discontinue that plan?</a:t>
            </a:r>
          </a:p>
          <a:p>
            <a:endParaRPr lang="en-US" dirty="0">
              <a:solidFill>
                <a:srgbClr val="A29DB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solidFill>
                  <a:srgbClr val="A29DB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5. Is there any plan that is discontinued after the 5G launch? What is the reason for it?</a:t>
            </a:r>
          </a:p>
          <a:p>
            <a:endParaRPr lang="en-US" dirty="0">
              <a:solidFill>
                <a:srgbClr val="A29DB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9E0A609C-1401-3DC9-AB6B-F91DEE582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000" y="6442343"/>
            <a:ext cx="360000" cy="36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E75AE9-17FC-74C2-40F0-5B3284EB0988}"/>
              </a:ext>
            </a:extLst>
          </p:cNvPr>
          <p:cNvSpPr/>
          <p:nvPr/>
        </p:nvSpPr>
        <p:spPr>
          <a:xfrm>
            <a:off x="7587488" y="357178"/>
            <a:ext cx="4073016" cy="57949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A hand holding a phone&#10;&#10;AI-generated content may be incorrect.">
            <a:extLst>
              <a:ext uri="{FF2B5EF4-FFF2-40B4-BE49-F238E27FC236}">
                <a16:creationId xmlns:a16="http://schemas.microsoft.com/office/drawing/2014/main" id="{FF7D8604-5DFF-C93F-A1B4-CDF6BE4C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488" y="423687"/>
            <a:ext cx="4073016" cy="57949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30ABBC-9FC5-67DA-D956-AB0F3C7CA865}"/>
              </a:ext>
            </a:extLst>
          </p:cNvPr>
          <p:cNvSpPr txBox="1"/>
          <p:nvPr/>
        </p:nvSpPr>
        <p:spPr>
          <a:xfrm>
            <a:off x="6611062" y="2975966"/>
            <a:ext cx="46661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Evaluation </a:t>
            </a:r>
          </a:p>
          <a:p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Criteria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62D3DE-A6DA-1410-AA45-D6F4ACCF830B}"/>
              </a:ext>
            </a:extLst>
          </p:cNvPr>
          <p:cNvCxnSpPr>
            <a:cxnSpLocks/>
          </p:cNvCxnSpPr>
          <p:nvPr/>
        </p:nvCxnSpPr>
        <p:spPr>
          <a:xfrm>
            <a:off x="246000" y="6381139"/>
            <a:ext cx="11700000" cy="0"/>
          </a:xfrm>
          <a:prstGeom prst="line">
            <a:avLst/>
          </a:prstGeom>
          <a:ln>
            <a:solidFill>
              <a:srgbClr val="6E68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966886-535D-9888-E395-372626D2044B}"/>
              </a:ext>
            </a:extLst>
          </p:cNvPr>
          <p:cNvSpPr txBox="1"/>
          <p:nvPr/>
        </p:nvSpPr>
        <p:spPr>
          <a:xfrm>
            <a:off x="2671052" y="6447666"/>
            <a:ext cx="8130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is part of data analytics internship by code basics and was prepared solely for learning purpose.</a:t>
            </a:r>
            <a:endParaRPr lang="en-IN" sz="1050" dirty="0">
              <a:solidFill>
                <a:srgbClr val="6E68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55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29F1B-06F7-089A-F58F-25998124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D184CAF-9CFD-E231-4E6D-536EB5EC6713}"/>
              </a:ext>
            </a:extLst>
          </p:cNvPr>
          <p:cNvSpPr/>
          <p:nvPr/>
        </p:nvSpPr>
        <p:spPr>
          <a:xfrm>
            <a:off x="0" y="3601976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DE980D-4950-3EDA-B89C-791424656A18}"/>
              </a:ext>
            </a:extLst>
          </p:cNvPr>
          <p:cNvSpPr/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>
                  <a:lumMod val="50000"/>
                </a:schemeClr>
              </a:solidFill>
              <a:highlight>
                <a:srgbClr val="FFFFFF"/>
              </a:highligh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754E61-9C29-453D-7A8A-F434A918ED87}"/>
              </a:ext>
            </a:extLst>
          </p:cNvPr>
          <p:cNvSpPr>
            <a:spLocks/>
          </p:cNvSpPr>
          <p:nvPr/>
        </p:nvSpPr>
        <p:spPr>
          <a:xfrm>
            <a:off x="185760" y="631376"/>
            <a:ext cx="11760240" cy="5662243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42FCA-B464-18F5-DAE4-F7E833CADC2D}"/>
              </a:ext>
            </a:extLst>
          </p:cNvPr>
          <p:cNvSpPr txBox="1"/>
          <p:nvPr/>
        </p:nvSpPr>
        <p:spPr>
          <a:xfrm>
            <a:off x="1722480" y="38136"/>
            <a:ext cx="8686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ahnschrift" panose="020B0502040204020203" pitchFamily="34" charset="0"/>
              </a:rPr>
              <a:t>What is the impact of the 5G launch on our revenue?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8AAEFD-6275-951A-B8D1-3BD19C15F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7416" y="668039"/>
            <a:ext cx="9360000" cy="1152135"/>
          </a:xfrm>
          <a:prstGeom prst="rect">
            <a:avLst/>
          </a:prstGeom>
        </p:spPr>
      </p:pic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67C272DC-4083-C9B3-AF76-213F4B7846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0839430"/>
              </p:ext>
            </p:extLst>
          </p:nvPr>
        </p:nvGraphicFramePr>
        <p:xfrm>
          <a:off x="5121538" y="3125586"/>
          <a:ext cx="4053044" cy="264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AB4528BC-9390-1912-8646-6856100F8C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6825992"/>
              </p:ext>
            </p:extLst>
          </p:nvPr>
        </p:nvGraphicFramePr>
        <p:xfrm>
          <a:off x="3218016" y="1779769"/>
          <a:ext cx="4053044" cy="2558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C5FB770-03F9-9CD5-5650-CCF57A4A3162}"/>
              </a:ext>
            </a:extLst>
          </p:cNvPr>
          <p:cNvSpPr txBox="1"/>
          <p:nvPr/>
        </p:nvSpPr>
        <p:spPr>
          <a:xfrm>
            <a:off x="8956200" y="1779769"/>
            <a:ext cx="2172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HIGHLIGHTS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8F009D-B5D3-07D4-2643-39644A9995F8}"/>
              </a:ext>
            </a:extLst>
          </p:cNvPr>
          <p:cNvCxnSpPr/>
          <p:nvPr/>
        </p:nvCxnSpPr>
        <p:spPr>
          <a:xfrm>
            <a:off x="8452036" y="2265415"/>
            <a:ext cx="32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24821CB-D043-1617-AD69-F335979EFE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972061"/>
              </p:ext>
            </p:extLst>
          </p:nvPr>
        </p:nvGraphicFramePr>
        <p:xfrm>
          <a:off x="366317" y="1907694"/>
          <a:ext cx="6037833" cy="4017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9F0C55EF-6BF5-6C8F-18F9-5E783E146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352" y="2261746"/>
            <a:ext cx="337364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verall revenue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dipped slightly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0.5%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after the 5G rollout.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Mumbai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remains the top revenue generator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₹4.9bn total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Raipur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though lowest in revenue, grew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+1.15%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post-5G.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Lucknow </a:t>
            </a:r>
            <a:r>
              <a:rPr lang="en-US" altLang="en-US" sz="16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showed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highest growth.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Delhi recorded the sharpest drop (-2.83%)</a:t>
            </a:r>
            <a:r>
              <a:rPr lang="en-US" sz="16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while other metros stayed stable.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Monthly average revenue holds steady 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₹4bn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showing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stable performance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across months.</a:t>
            </a:r>
          </a:p>
        </p:txBody>
      </p:sp>
      <p:pic>
        <p:nvPicPr>
          <p:cNvPr id="9" name="Picture 8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0E2CAA88-5559-53D4-44D6-2F40DEF26B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000" y="6442343"/>
            <a:ext cx="360000" cy="3600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B8D21D-3CF4-B73E-9C0B-A07CC96D8DCA}"/>
              </a:ext>
            </a:extLst>
          </p:cNvPr>
          <p:cNvCxnSpPr>
            <a:cxnSpLocks/>
          </p:cNvCxnSpPr>
          <p:nvPr/>
        </p:nvCxnSpPr>
        <p:spPr>
          <a:xfrm>
            <a:off x="246000" y="6381139"/>
            <a:ext cx="11700000" cy="0"/>
          </a:xfrm>
          <a:prstGeom prst="line">
            <a:avLst/>
          </a:prstGeom>
          <a:ln>
            <a:solidFill>
              <a:srgbClr val="6E68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F488BF5-4B0A-C18A-89B8-ACAAB918BC5B}"/>
              </a:ext>
            </a:extLst>
          </p:cNvPr>
          <p:cNvSpPr txBox="1"/>
          <p:nvPr/>
        </p:nvSpPr>
        <p:spPr>
          <a:xfrm>
            <a:off x="2671052" y="6447666"/>
            <a:ext cx="8130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is part of data analytics internship by code basics and was prepared solely for learning purpose.</a:t>
            </a:r>
            <a:endParaRPr lang="en-IN" sz="1050" dirty="0">
              <a:solidFill>
                <a:srgbClr val="6E68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460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0221-C934-A50D-C001-E6EC369C6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03CB941-7268-F3F1-762D-63A4EF1B37D0}"/>
              </a:ext>
            </a:extLst>
          </p:cNvPr>
          <p:cNvSpPr/>
          <p:nvPr/>
        </p:nvSpPr>
        <p:spPr>
          <a:xfrm>
            <a:off x="0" y="3640349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075E6-9A05-BFC4-8D36-239ACABD3D3E}"/>
              </a:ext>
            </a:extLst>
          </p:cNvPr>
          <p:cNvSpPr/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>
                  <a:lumMod val="50000"/>
                </a:schemeClr>
              </a:solidFill>
              <a:highlight>
                <a:srgbClr val="FFFFFF"/>
              </a:highligh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DD7F00-9EF7-5FAE-11B5-6D2B4B207014}"/>
              </a:ext>
            </a:extLst>
          </p:cNvPr>
          <p:cNvSpPr>
            <a:spLocks/>
          </p:cNvSpPr>
          <p:nvPr/>
        </p:nvSpPr>
        <p:spPr>
          <a:xfrm>
            <a:off x="185760" y="652370"/>
            <a:ext cx="11760240" cy="5915725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D05B582C-379F-6CF0-4BC3-3368CA3F5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2861" y="6467038"/>
            <a:ext cx="360000" cy="360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49CCBE-0C3D-A408-43DD-591A05CBE49C}"/>
              </a:ext>
            </a:extLst>
          </p:cNvPr>
          <p:cNvCxnSpPr>
            <a:cxnSpLocks/>
          </p:cNvCxnSpPr>
          <p:nvPr/>
        </p:nvCxnSpPr>
        <p:spPr>
          <a:xfrm>
            <a:off x="491643" y="6617930"/>
            <a:ext cx="11062080" cy="0"/>
          </a:xfrm>
          <a:prstGeom prst="line">
            <a:avLst/>
          </a:prstGeom>
          <a:ln>
            <a:solidFill>
              <a:srgbClr val="6E68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0FD2E05-72A1-4467-8B1B-4D160560EB4B}"/>
              </a:ext>
            </a:extLst>
          </p:cNvPr>
          <p:cNvSpPr txBox="1"/>
          <p:nvPr/>
        </p:nvSpPr>
        <p:spPr>
          <a:xfrm>
            <a:off x="1722480" y="38136"/>
            <a:ext cx="8686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ahnschrift" panose="020B0502040204020203" pitchFamily="34" charset="0"/>
              </a:rPr>
              <a:t>Which KPI is underperforming after the 5G launch?</a:t>
            </a:r>
          </a:p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377FFA-A2D6-C1DA-4F47-67F15E6FD0FF}"/>
              </a:ext>
            </a:extLst>
          </p:cNvPr>
          <p:cNvSpPr txBox="1"/>
          <p:nvPr/>
        </p:nvSpPr>
        <p:spPr>
          <a:xfrm>
            <a:off x="530955" y="2357783"/>
            <a:ext cx="3106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100" dirty="0"/>
          </a:p>
          <a:p>
            <a:endParaRPr lang="en-IN" sz="1400" dirty="0"/>
          </a:p>
        </p:txBody>
      </p:sp>
      <p:graphicFrame>
        <p:nvGraphicFramePr>
          <p:cNvPr id="58" name="Chart 57">
            <a:extLst>
              <a:ext uri="{FF2B5EF4-FFF2-40B4-BE49-F238E27FC236}">
                <a16:creationId xmlns:a16="http://schemas.microsoft.com/office/drawing/2014/main" id="{769FB270-A416-FE70-727B-A0E6369D67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7405388"/>
              </p:ext>
            </p:extLst>
          </p:nvPr>
        </p:nvGraphicFramePr>
        <p:xfrm>
          <a:off x="366317" y="3232252"/>
          <a:ext cx="3873418" cy="2657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BF33ABF7-D07E-F4B9-3D8B-64288550D8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211102"/>
              </p:ext>
            </p:extLst>
          </p:nvPr>
        </p:nvGraphicFramePr>
        <p:xfrm>
          <a:off x="4389473" y="3232250"/>
          <a:ext cx="3873417" cy="265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8EAFF0D0-1444-CC1F-5221-1EFD4D8BE929}"/>
              </a:ext>
            </a:extLst>
          </p:cNvPr>
          <p:cNvSpPr txBox="1"/>
          <p:nvPr/>
        </p:nvSpPr>
        <p:spPr>
          <a:xfrm>
            <a:off x="8917431" y="2619344"/>
            <a:ext cx="2172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HIGHLIGHTS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E4ACF2-E8DB-8B71-8BB4-B0401552FD09}"/>
              </a:ext>
            </a:extLst>
          </p:cNvPr>
          <p:cNvCxnSpPr/>
          <p:nvPr/>
        </p:nvCxnSpPr>
        <p:spPr>
          <a:xfrm>
            <a:off x="8313723" y="3057270"/>
            <a:ext cx="32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A87B16C-19DF-1FD2-4295-44D0E88FA25B}"/>
              </a:ext>
            </a:extLst>
          </p:cNvPr>
          <p:cNvSpPr txBox="1"/>
          <p:nvPr/>
        </p:nvSpPr>
        <p:spPr>
          <a:xfrm>
            <a:off x="659468" y="6586090"/>
            <a:ext cx="108730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is part of data analytics internship by code basics and was prepared solely for learning purpose.	                                          TAU- Total Active User, </a:t>
            </a:r>
            <a:r>
              <a:rPr lang="en-US" sz="1050" dirty="0" err="1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TUsU</a:t>
            </a:r>
            <a:r>
              <a:rPr lang="en-US" sz="105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Unsubscribe Users</a:t>
            </a:r>
            <a:endParaRPr lang="en-IN" sz="1050" dirty="0">
              <a:solidFill>
                <a:srgbClr val="6E68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3606EB-9DDF-FA2B-32FE-8B2844FBB3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0114" y="745016"/>
            <a:ext cx="8561722" cy="8859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11260B-5FB3-9EC9-583A-09F98674FD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7575" y="1657480"/>
            <a:ext cx="8686800" cy="1056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F05C73-D2E3-F437-98D1-9BB29DD9869D}"/>
              </a:ext>
            </a:extLst>
          </p:cNvPr>
          <p:cNvSpPr txBox="1"/>
          <p:nvPr/>
        </p:nvSpPr>
        <p:spPr>
          <a:xfrm>
            <a:off x="10017119" y="952690"/>
            <a:ext cx="810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727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65BCC-0A6D-E981-8CEF-92F47FDC116A}"/>
              </a:ext>
            </a:extLst>
          </p:cNvPr>
          <p:cNvSpPr txBox="1"/>
          <p:nvPr/>
        </p:nvSpPr>
        <p:spPr>
          <a:xfrm>
            <a:off x="10003896" y="1873689"/>
            <a:ext cx="810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6727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TUsU</a:t>
            </a:r>
            <a:endParaRPr lang="en-US" sz="2000" dirty="0">
              <a:solidFill>
                <a:srgbClr val="6727F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3D05969F-B41E-F0DB-CBF8-739F6C406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268" y="3246112"/>
            <a:ext cx="347659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7 million </a:t>
            </a:r>
            <a:r>
              <a:rPr lang="en-IN" sz="16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user drop suggests revenue decline.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Pune's </a:t>
            </a:r>
            <a:r>
              <a:rPr lang="en-IN" sz="16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18.06% increase </a:t>
            </a:r>
            <a:r>
              <a:rPr lang="en-IN" sz="16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active users stands out.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Ahmedabad </a:t>
            </a:r>
            <a:r>
              <a:rPr lang="en-IN" sz="16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shows the most impact on user base.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Lucknow</a:t>
            </a:r>
            <a:r>
              <a:rPr lang="en-US" sz="16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recorded a </a:t>
            </a:r>
            <a:r>
              <a:rPr lang="en-US" sz="16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77% </a:t>
            </a:r>
            <a:r>
              <a:rPr lang="en-US" sz="16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rise in </a:t>
            </a:r>
            <a:r>
              <a:rPr lang="en-US" sz="16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unsubscribed users</a:t>
            </a:r>
            <a:r>
              <a:rPr lang="en-US" sz="16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possibly due to 5G service dissatisfaction.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3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A416-577A-6861-D70F-8500A0A9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F861E1F-E388-5873-BBBD-7C5DE917DD1E}"/>
              </a:ext>
            </a:extLst>
          </p:cNvPr>
          <p:cNvSpPr/>
          <p:nvPr/>
        </p:nvSpPr>
        <p:spPr>
          <a:xfrm>
            <a:off x="0" y="3640349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31DB1F-1A64-E64B-106E-2EDB63F591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>
                  <a:lumMod val="50000"/>
                </a:schemeClr>
              </a:solidFill>
              <a:highlight>
                <a:srgbClr val="FFFFFF"/>
              </a:highligh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207129-D8BA-23CD-787A-7391A834EE3C}"/>
              </a:ext>
            </a:extLst>
          </p:cNvPr>
          <p:cNvSpPr>
            <a:spLocks/>
          </p:cNvSpPr>
          <p:nvPr/>
        </p:nvSpPr>
        <p:spPr>
          <a:xfrm>
            <a:off x="185760" y="1013748"/>
            <a:ext cx="11760240" cy="5274708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FF4E0DD8-4DDB-CA66-72BA-8DB300FBB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000" y="6442343"/>
            <a:ext cx="360000" cy="360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CACA45-9500-B563-83F3-121CE2DD6CC5}"/>
              </a:ext>
            </a:extLst>
          </p:cNvPr>
          <p:cNvCxnSpPr>
            <a:cxnSpLocks/>
          </p:cNvCxnSpPr>
          <p:nvPr/>
        </p:nvCxnSpPr>
        <p:spPr>
          <a:xfrm>
            <a:off x="246000" y="6381139"/>
            <a:ext cx="11700000" cy="0"/>
          </a:xfrm>
          <a:prstGeom prst="line">
            <a:avLst/>
          </a:prstGeom>
          <a:ln>
            <a:solidFill>
              <a:srgbClr val="6E68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976034F-4D97-A597-A41B-EE60258DC06B}"/>
              </a:ext>
            </a:extLst>
          </p:cNvPr>
          <p:cNvSpPr txBox="1"/>
          <p:nvPr/>
        </p:nvSpPr>
        <p:spPr>
          <a:xfrm>
            <a:off x="775855" y="38136"/>
            <a:ext cx="105403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ahnschrift" panose="020B0502040204020203" pitchFamily="34" charset="0"/>
              </a:rPr>
              <a:t>After the 5G launch, Which plans are performing well in terms of revenue? Which plans are not performing well?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D425F-25F1-8980-1FCB-50182EE49B37}"/>
              </a:ext>
            </a:extLst>
          </p:cNvPr>
          <p:cNvSpPr txBox="1"/>
          <p:nvPr/>
        </p:nvSpPr>
        <p:spPr>
          <a:xfrm>
            <a:off x="8425931" y="2238557"/>
            <a:ext cx="2172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HIGHLIGHTS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0BE26D-28A0-0401-4009-65C423DE441D}"/>
              </a:ext>
            </a:extLst>
          </p:cNvPr>
          <p:cNvCxnSpPr/>
          <p:nvPr/>
        </p:nvCxnSpPr>
        <p:spPr>
          <a:xfrm>
            <a:off x="7892395" y="2638667"/>
            <a:ext cx="32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8A26F26-D790-F5F2-1B35-AD4244D22FFC}"/>
              </a:ext>
            </a:extLst>
          </p:cNvPr>
          <p:cNvSpPr txBox="1"/>
          <p:nvPr/>
        </p:nvSpPr>
        <p:spPr>
          <a:xfrm>
            <a:off x="7892395" y="2756876"/>
            <a:ext cx="324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Plan </a:t>
            </a:r>
            <a:r>
              <a:rPr lang="en-US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</a:t>
            </a:r>
            <a:r>
              <a:rPr lang="en-US" b="1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 </a:t>
            </a:r>
            <a:r>
              <a:rPr lang="en-US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&amp;</a:t>
            </a:r>
            <a:r>
              <a:rPr lang="en-US" b="1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P11 </a:t>
            </a:r>
            <a:r>
              <a:rPr lang="en-US" b="0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show increase in revenue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Among all plans, </a:t>
            </a:r>
            <a:r>
              <a:rPr lang="en-US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</a:t>
            </a:r>
            <a:r>
              <a:rPr lang="en-US" b="1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11 </a:t>
            </a:r>
            <a:r>
              <a:rPr lang="en-US" b="0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consistently generates the </a:t>
            </a:r>
            <a:r>
              <a:rPr lang="en-IN" b="1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highest revenue</a:t>
            </a:r>
            <a:r>
              <a:rPr lang="en-IN" b="0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Plan </a:t>
            </a:r>
            <a:r>
              <a:rPr lang="en-US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</a:t>
            </a:r>
            <a:r>
              <a:rPr lang="en-US" b="1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7 </a:t>
            </a:r>
            <a:r>
              <a:rPr lang="en-US" b="0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show lowest revenue compared to all </a:t>
            </a:r>
            <a:r>
              <a:rPr lang="en-IN" b="0" i="0" u="none" strike="noStrike" baseline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other plans</a:t>
            </a:r>
            <a:endParaRPr lang="en-US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6467FA-152D-FC6F-2817-CB721AD1AE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427" y="1105990"/>
            <a:ext cx="6771843" cy="180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4F0C3B-5FED-ACDA-BA1A-A7822E3A7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348" y="2756876"/>
            <a:ext cx="6696000" cy="18230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8F5357-953C-C48D-8769-A0F9761C8B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348" y="4490536"/>
            <a:ext cx="6912000" cy="179925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1EBC369-DC1A-A47B-2A87-231DE7FA2EC0}"/>
              </a:ext>
            </a:extLst>
          </p:cNvPr>
          <p:cNvSpPr txBox="1"/>
          <p:nvPr/>
        </p:nvSpPr>
        <p:spPr>
          <a:xfrm>
            <a:off x="2828070" y="6397760"/>
            <a:ext cx="8130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is part of data analytics internship by code basics and was prepared solely for learning purpose.</a:t>
            </a:r>
            <a:endParaRPr lang="en-IN" sz="1050" dirty="0">
              <a:solidFill>
                <a:srgbClr val="6E68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837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F0F4-274C-32AD-9973-036D02FD3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F2A3C20-D997-A1AD-FD45-287AEE3956DB}"/>
              </a:ext>
            </a:extLst>
          </p:cNvPr>
          <p:cNvSpPr/>
          <p:nvPr/>
        </p:nvSpPr>
        <p:spPr>
          <a:xfrm>
            <a:off x="0" y="3640349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1A5643-0DE4-C705-AE0A-468BE171A8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>
                  <a:lumMod val="50000"/>
                </a:schemeClr>
              </a:solidFill>
              <a:highlight>
                <a:srgbClr val="FFFFFF"/>
              </a:highligh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0F7176-6522-4C3E-EC88-CA26CE409874}"/>
              </a:ext>
            </a:extLst>
          </p:cNvPr>
          <p:cNvSpPr>
            <a:spLocks/>
          </p:cNvSpPr>
          <p:nvPr/>
        </p:nvSpPr>
        <p:spPr>
          <a:xfrm>
            <a:off x="185760" y="1013748"/>
            <a:ext cx="11760240" cy="5274708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3FB4DD80-1968-4BAC-C4C6-4433A0987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000" y="6442343"/>
            <a:ext cx="360000" cy="360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211A9F-C95E-3A9F-34CA-BD2C190C204F}"/>
              </a:ext>
            </a:extLst>
          </p:cNvPr>
          <p:cNvCxnSpPr>
            <a:cxnSpLocks/>
          </p:cNvCxnSpPr>
          <p:nvPr/>
        </p:nvCxnSpPr>
        <p:spPr>
          <a:xfrm>
            <a:off x="246000" y="6381139"/>
            <a:ext cx="11700000" cy="0"/>
          </a:xfrm>
          <a:prstGeom prst="line">
            <a:avLst/>
          </a:prstGeom>
          <a:ln>
            <a:solidFill>
              <a:srgbClr val="6E68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27FE4C-9C94-4896-41D1-C2B6C2704A95}"/>
              </a:ext>
            </a:extLst>
          </p:cNvPr>
          <p:cNvSpPr txBox="1"/>
          <p:nvPr/>
        </p:nvSpPr>
        <p:spPr>
          <a:xfrm>
            <a:off x="775855" y="38136"/>
            <a:ext cx="105403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ahnschrift" panose="020B0502040204020203" pitchFamily="34" charset="0"/>
              </a:rPr>
              <a:t>Is there any plan affected largely by the 5G launch? Should we continue or discontinue that plan?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9AA044-4902-EEB0-3882-1CB6FA1E655F}"/>
              </a:ext>
            </a:extLst>
          </p:cNvPr>
          <p:cNvSpPr txBox="1"/>
          <p:nvPr/>
        </p:nvSpPr>
        <p:spPr>
          <a:xfrm>
            <a:off x="2828070" y="6397760"/>
            <a:ext cx="8130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is part of data analytics internship by code basics and was prepared solely for learning purpose.</a:t>
            </a:r>
            <a:endParaRPr lang="en-IN" sz="1050" dirty="0">
              <a:solidFill>
                <a:srgbClr val="6E68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7A593-4AB6-584E-223E-EB20A51FB662}"/>
              </a:ext>
            </a:extLst>
          </p:cNvPr>
          <p:cNvSpPr txBox="1"/>
          <p:nvPr/>
        </p:nvSpPr>
        <p:spPr>
          <a:xfrm>
            <a:off x="8647757" y="1084926"/>
            <a:ext cx="2172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HIGHLIGHTS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28B313-BFCE-3823-ECDD-029BC0161155}"/>
              </a:ext>
            </a:extLst>
          </p:cNvPr>
          <p:cNvSpPr txBox="1"/>
          <p:nvPr/>
        </p:nvSpPr>
        <p:spPr>
          <a:xfrm>
            <a:off x="8114221" y="1634158"/>
            <a:ext cx="3348350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Smart Recharge Pack (p1)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: Revenue increased from ₹1.8B to ₹2.4B, indicating strong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Ultra Fast Mega Pack (p11)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: New 5G plan, quickly generating ₹1.9B in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Ultra Duo Data Pack (p12)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: New 5G plan, achieving </a:t>
            </a: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₹1.2B 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 revenue, showing positive customer response.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25 GB Combo 3G/4G Data Pack (p7)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faced a significant revenue drop from </a:t>
            </a: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₹582.4 M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to </a:t>
            </a: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₹155.6 M 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due to the 5G launch, suggesting it should be discontinued.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5C8793-8D4A-1A3D-5532-D1C6B5A03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5237" y="1485036"/>
            <a:ext cx="6421550" cy="421363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047BF8-C085-2438-9756-FEED00825E1A}"/>
              </a:ext>
            </a:extLst>
          </p:cNvPr>
          <p:cNvCxnSpPr/>
          <p:nvPr/>
        </p:nvCxnSpPr>
        <p:spPr>
          <a:xfrm>
            <a:off x="8114221" y="1521362"/>
            <a:ext cx="32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52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16433-C857-CA22-BEB2-6CB030DF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A23B329-2504-FF3D-FE58-346CD9920B5C}"/>
              </a:ext>
            </a:extLst>
          </p:cNvPr>
          <p:cNvSpPr/>
          <p:nvPr/>
        </p:nvSpPr>
        <p:spPr>
          <a:xfrm>
            <a:off x="0" y="3640349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095FC7-E93A-1402-E23F-71B8171876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>
                  <a:lumMod val="50000"/>
                </a:schemeClr>
              </a:solidFill>
              <a:highlight>
                <a:srgbClr val="FFFFFF"/>
              </a:highligh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92878A-69FC-37AD-A5A8-0EC76D1A404A}"/>
              </a:ext>
            </a:extLst>
          </p:cNvPr>
          <p:cNvSpPr>
            <a:spLocks/>
          </p:cNvSpPr>
          <p:nvPr/>
        </p:nvSpPr>
        <p:spPr>
          <a:xfrm>
            <a:off x="185760" y="1013748"/>
            <a:ext cx="11760240" cy="5274708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2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1971852E-8D77-275D-2F50-BD2DF4033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000" y="6442343"/>
            <a:ext cx="360000" cy="360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D1EBFC-D1C7-B826-7BE5-1E06AF5F0E82}"/>
              </a:ext>
            </a:extLst>
          </p:cNvPr>
          <p:cNvCxnSpPr>
            <a:cxnSpLocks/>
          </p:cNvCxnSpPr>
          <p:nvPr/>
        </p:nvCxnSpPr>
        <p:spPr>
          <a:xfrm>
            <a:off x="246000" y="6381139"/>
            <a:ext cx="11700000" cy="0"/>
          </a:xfrm>
          <a:prstGeom prst="line">
            <a:avLst/>
          </a:prstGeom>
          <a:ln>
            <a:solidFill>
              <a:srgbClr val="6E68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0EC7094-D383-686F-25F1-3CC0CE80152E}"/>
              </a:ext>
            </a:extLst>
          </p:cNvPr>
          <p:cNvSpPr txBox="1"/>
          <p:nvPr/>
        </p:nvSpPr>
        <p:spPr>
          <a:xfrm>
            <a:off x="775855" y="38136"/>
            <a:ext cx="105403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ahnschrift" panose="020B0502040204020203" pitchFamily="34" charset="0"/>
              </a:rPr>
              <a:t>Is there any plan that is discontinued after the 5G launch? What is the reason for it?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C7047D-A807-DD73-B6DC-6A9EC27473A2}"/>
              </a:ext>
            </a:extLst>
          </p:cNvPr>
          <p:cNvSpPr txBox="1"/>
          <p:nvPr/>
        </p:nvSpPr>
        <p:spPr>
          <a:xfrm>
            <a:off x="2828070" y="6397760"/>
            <a:ext cx="8130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is part of data analytics internship by code basics and was prepared solely for learning purpose.</a:t>
            </a:r>
            <a:endParaRPr lang="en-IN" sz="1050" dirty="0">
              <a:solidFill>
                <a:srgbClr val="6E68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21F2F1-91CE-2C62-7BE9-55F0CC722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3437" y="1112217"/>
            <a:ext cx="6588000" cy="17647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5285B-C328-C724-2863-EEE43ABC6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8264" y="2734493"/>
            <a:ext cx="6588000" cy="1814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6B3FFB-08AF-AAE9-DB8E-A8F1955CE2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8264" y="4451952"/>
            <a:ext cx="6588000" cy="17511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DE6BDF-EFBD-0BB2-F906-8FBBB8A4B7EE}"/>
              </a:ext>
            </a:extLst>
          </p:cNvPr>
          <p:cNvSpPr txBox="1"/>
          <p:nvPr/>
        </p:nvSpPr>
        <p:spPr>
          <a:xfrm>
            <a:off x="8609725" y="1099492"/>
            <a:ext cx="2172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HIGHLIGHTS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0C9D23-9BEC-C5B4-C04A-F54FA845E6A5}"/>
              </a:ext>
            </a:extLst>
          </p:cNvPr>
          <p:cNvCxnSpPr/>
          <p:nvPr/>
        </p:nvCxnSpPr>
        <p:spPr>
          <a:xfrm>
            <a:off x="8076191" y="1537212"/>
            <a:ext cx="32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F5B8DEB-4CEB-D632-3859-524EB21D1DF5}"/>
              </a:ext>
            </a:extLst>
          </p:cNvPr>
          <p:cNvSpPr txBox="1"/>
          <p:nvPr/>
        </p:nvSpPr>
        <p:spPr>
          <a:xfrm>
            <a:off x="8076190" y="1685475"/>
            <a:ext cx="3384290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Plan P8 - Daily </a:t>
            </a:r>
            <a:r>
              <a:rPr lang="en-US" sz="1700" b="1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Saviour</a:t>
            </a: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(1 GB/Day)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: Discontinued due to </a:t>
            </a: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short validity 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and </a:t>
            </a: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inadequate data 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for 5G demands.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Plan P9 - Combo TopUp (14.95 </a:t>
            </a:r>
            <a:r>
              <a:rPr lang="en-US" sz="1700" b="1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Talktime</a:t>
            </a: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and 300 MB Data):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Discontinued as consumer preference shifted towards plans with more data and talk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Plan P10 - Big Combo Pack (6 GB/Day):</a:t>
            </a:r>
            <a:r>
              <a:rPr lang="en-US" sz="17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Discontinued because of its short 3-day validity not meeting customer expectations for flexibility in data usage.</a:t>
            </a:r>
          </a:p>
        </p:txBody>
      </p:sp>
    </p:spTree>
    <p:extLst>
      <p:ext uri="{BB962C8B-B14F-4D97-AF65-F5344CB8AC3E}">
        <p14:creationId xmlns:p14="http://schemas.microsoft.com/office/powerpoint/2010/main" val="356061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4FE47-5234-67BA-0D96-D7D245A0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F687CEB-42FB-0BE9-9D5F-17133EC102E7}"/>
              </a:ext>
            </a:extLst>
          </p:cNvPr>
          <p:cNvSpPr/>
          <p:nvPr/>
        </p:nvSpPr>
        <p:spPr>
          <a:xfrm>
            <a:off x="0" y="3640349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E0F73F-718C-BA46-D488-B72AC284C3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bg1">
                  <a:lumMod val="50000"/>
                </a:schemeClr>
              </a:solidFill>
              <a:highlight>
                <a:srgbClr val="FFFFFF"/>
              </a:highligh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2F0EE1B1-B133-BA37-7242-6CF512E8A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000" y="6442343"/>
            <a:ext cx="360000" cy="360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1FF1EF-5E43-E597-85C0-03CFE549F2CA}"/>
              </a:ext>
            </a:extLst>
          </p:cNvPr>
          <p:cNvCxnSpPr>
            <a:cxnSpLocks/>
          </p:cNvCxnSpPr>
          <p:nvPr/>
        </p:nvCxnSpPr>
        <p:spPr>
          <a:xfrm>
            <a:off x="246000" y="6381139"/>
            <a:ext cx="11700000" cy="0"/>
          </a:xfrm>
          <a:prstGeom prst="line">
            <a:avLst/>
          </a:prstGeom>
          <a:ln>
            <a:solidFill>
              <a:srgbClr val="6E68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C0FD76-0B5D-48B5-9AF1-7B8FCC5CCB12}"/>
              </a:ext>
            </a:extLst>
          </p:cNvPr>
          <p:cNvSpPr txBox="1"/>
          <p:nvPr/>
        </p:nvSpPr>
        <p:spPr>
          <a:xfrm>
            <a:off x="1172914" y="276978"/>
            <a:ext cx="3639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ahnschrift" panose="020B0502040204020203" pitchFamily="34" charset="0"/>
              </a:rPr>
              <a:t>Recommendations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5B2E21-2A69-FFE9-E103-E002DA27811C}"/>
              </a:ext>
            </a:extLst>
          </p:cNvPr>
          <p:cNvSpPr txBox="1"/>
          <p:nvPr/>
        </p:nvSpPr>
        <p:spPr>
          <a:xfrm>
            <a:off x="2828070" y="6397760"/>
            <a:ext cx="8130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is part of data analytics internship by code basics and was prepared solely for learning purpose.</a:t>
            </a:r>
            <a:endParaRPr lang="en-IN" sz="1100" dirty="0">
              <a:solidFill>
                <a:srgbClr val="6E68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9375A95-0188-4964-3CA2-414C65A9ED7D}"/>
              </a:ext>
            </a:extLst>
          </p:cNvPr>
          <p:cNvSpPr>
            <a:spLocks/>
          </p:cNvSpPr>
          <p:nvPr/>
        </p:nvSpPr>
        <p:spPr>
          <a:xfrm>
            <a:off x="185760" y="889208"/>
            <a:ext cx="11760240" cy="5399247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60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6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A0F825-54AB-7872-917C-14E5887850CC}"/>
              </a:ext>
            </a:extLst>
          </p:cNvPr>
          <p:cNvSpPr txBox="1">
            <a:spLocks/>
          </p:cNvSpPr>
          <p:nvPr/>
        </p:nvSpPr>
        <p:spPr>
          <a:xfrm>
            <a:off x="1151618" y="1195298"/>
            <a:ext cx="732084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Network Experience:</a:t>
            </a:r>
            <a:b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Enhance 5G coverage and reduce latency for smoother connectivity.</a:t>
            </a:r>
          </a:p>
          <a:p>
            <a:r>
              <a:rPr lang="en-US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Retention Strategy:</a:t>
            </a:r>
            <a:b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Re-engage users in high-drop cities with targeted offers.</a:t>
            </a:r>
          </a:p>
          <a:p>
            <a:r>
              <a:rPr lang="en-US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Pricing Alignment:</a:t>
            </a:r>
            <a:b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Revise 5G plans for better affordability and transparency.</a:t>
            </a:r>
          </a:p>
          <a:p>
            <a:r>
              <a:rPr lang="en-US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Customer Engagement:</a:t>
            </a:r>
            <a:b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Strengthen feedback channels and quick issue resolution.</a:t>
            </a:r>
          </a:p>
          <a:p>
            <a:r>
              <a:rPr lang="en-US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Performance Tracking:</a:t>
            </a:r>
            <a:b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Use live KPIs to detect and address churn early.</a:t>
            </a:r>
          </a:p>
          <a:p>
            <a:r>
              <a:rPr lang="en-US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Service Innovation:</a:t>
            </a:r>
            <a:b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Bundle 5G with new digital and entertainment features.</a:t>
            </a:r>
          </a:p>
          <a:p>
            <a:r>
              <a:rPr lang="en-US" sz="20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Awareness &amp; Education:</a:t>
            </a:r>
            <a:b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Promote 5G benefits and device readiness through campaigns.</a:t>
            </a:r>
          </a:p>
        </p:txBody>
      </p:sp>
    </p:spTree>
    <p:extLst>
      <p:ext uri="{BB962C8B-B14F-4D97-AF65-F5344CB8AC3E}">
        <p14:creationId xmlns:p14="http://schemas.microsoft.com/office/powerpoint/2010/main" val="178758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4E8A8-9484-3565-4B90-C0399F72E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675B2DD-8511-0FC9-749C-82B2182EAED8}"/>
              </a:ext>
            </a:extLst>
          </p:cNvPr>
          <p:cNvSpPr/>
          <p:nvPr/>
        </p:nvSpPr>
        <p:spPr>
          <a:xfrm>
            <a:off x="0" y="3640349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EE7C09-D458-1C04-179D-73B29860C1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bg1">
                  <a:lumMod val="50000"/>
                </a:schemeClr>
              </a:solidFill>
              <a:highlight>
                <a:srgbClr val="FFFFFF"/>
              </a:highligh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2E37FE-9E0E-3BAD-F3D9-B06FA224BB7E}"/>
              </a:ext>
            </a:extLst>
          </p:cNvPr>
          <p:cNvSpPr>
            <a:spLocks/>
          </p:cNvSpPr>
          <p:nvPr/>
        </p:nvSpPr>
        <p:spPr>
          <a:xfrm>
            <a:off x="185760" y="889208"/>
            <a:ext cx="11760240" cy="5399247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60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endParaRPr lang="en-US" sz="3600" dirty="0">
              <a:solidFill>
                <a:srgbClr val="F27239"/>
              </a:solidFill>
              <a:latin typeface="Berlin Sans FB Demi" panose="020E0802020502020306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22FD9FDC-9FA4-4E02-5F29-C428DF016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000" y="6442343"/>
            <a:ext cx="360000" cy="360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CFC2AF-606F-651E-6E71-A1D596500647}"/>
              </a:ext>
            </a:extLst>
          </p:cNvPr>
          <p:cNvCxnSpPr>
            <a:cxnSpLocks/>
          </p:cNvCxnSpPr>
          <p:nvPr/>
        </p:nvCxnSpPr>
        <p:spPr>
          <a:xfrm>
            <a:off x="246000" y="6381139"/>
            <a:ext cx="11700000" cy="0"/>
          </a:xfrm>
          <a:prstGeom prst="line">
            <a:avLst/>
          </a:prstGeom>
          <a:ln>
            <a:solidFill>
              <a:srgbClr val="6E68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8DCF3C5-5774-2976-01EF-6A0DD35271B1}"/>
              </a:ext>
            </a:extLst>
          </p:cNvPr>
          <p:cNvSpPr txBox="1"/>
          <p:nvPr/>
        </p:nvSpPr>
        <p:spPr>
          <a:xfrm>
            <a:off x="2828070" y="6397760"/>
            <a:ext cx="8130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E68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presentation is part of data analytics internship by code basics and was prepared solely for learning purpose.</a:t>
            </a:r>
            <a:endParaRPr lang="en-IN" sz="1100" dirty="0">
              <a:solidFill>
                <a:srgbClr val="6E68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74B30-9E97-7AAF-182A-546614869C96}"/>
              </a:ext>
            </a:extLst>
          </p:cNvPr>
          <p:cNvSpPr txBox="1">
            <a:spLocks/>
          </p:cNvSpPr>
          <p:nvPr/>
        </p:nvSpPr>
        <p:spPr>
          <a:xfrm>
            <a:off x="1087731" y="1078725"/>
            <a:ext cx="7320846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Presentation Idea: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Bain &amp; Company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Image Source: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www.unsplash.com 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               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www.pexels.com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solidFill>
                <a:srgbClr val="6727F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AtliQ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Logo: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www.google.com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Data Analytics Internship: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www.codebasics.io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000" dirty="0">
                <a:solidFill>
                  <a:srgbClr val="6727F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Live Power BI Dashboard: </a:t>
            </a:r>
            <a:r>
              <a:rPr lang="en-US" sz="2000" dirty="0">
                <a:solidFill>
                  <a:srgbClr val="6727F2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view</a:t>
            </a:r>
            <a:endParaRPr lang="en-US" sz="2000" dirty="0">
              <a:solidFill>
                <a:srgbClr val="6727F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Interactive report by</a:t>
            </a:r>
          </a:p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Sagar Murmu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@ Data Analyst Intern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Do you have any question related to presentation?</a:t>
            </a:r>
          </a:p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Please email </a:t>
            </a:r>
            <a:r>
              <a:rPr lang="en-US" sz="2000" dirty="0">
                <a:solidFill>
                  <a:srgbClr val="6727F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sagar14011991@gmail.com</a:t>
            </a:r>
            <a:endParaRPr lang="en-US" sz="20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E37F01-8C44-7EC3-C4FA-5906CECC3FD2}"/>
              </a:ext>
            </a:extLst>
          </p:cNvPr>
          <p:cNvSpPr txBox="1"/>
          <p:nvPr/>
        </p:nvSpPr>
        <p:spPr>
          <a:xfrm>
            <a:off x="1172914" y="276978"/>
            <a:ext cx="3639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ahnschrift" panose="020B0502040204020203" pitchFamily="34" charset="0"/>
              </a:rPr>
              <a:t>Resources :</a:t>
            </a:r>
          </a:p>
        </p:txBody>
      </p:sp>
    </p:spTree>
    <p:extLst>
      <p:ext uri="{BB962C8B-B14F-4D97-AF65-F5344CB8AC3E}">
        <p14:creationId xmlns:p14="http://schemas.microsoft.com/office/powerpoint/2010/main" val="1877697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87EC3-5CF7-C21B-E30F-9D7C1350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F6B7F85-2CF8-757D-4B10-5549E2462868}"/>
              </a:ext>
            </a:extLst>
          </p:cNvPr>
          <p:cNvSpPr/>
          <p:nvPr/>
        </p:nvSpPr>
        <p:spPr>
          <a:xfrm>
            <a:off x="0" y="3640349"/>
            <a:ext cx="12192000" cy="3217651"/>
          </a:xfrm>
          <a:prstGeom prst="rect">
            <a:avLst/>
          </a:prstGeom>
          <a:solidFill>
            <a:srgbClr val="D1D1D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688A44-9D70-D44F-4762-C338AF21BB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64034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bg1">
                  <a:lumMod val="50000"/>
                </a:schemeClr>
              </a:solidFill>
              <a:highlight>
                <a:srgbClr val="FFFFFF"/>
              </a:highligh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 descr="A white circle with blue text and black text&#10;&#10;Description automatically generated">
            <a:extLst>
              <a:ext uri="{FF2B5EF4-FFF2-40B4-BE49-F238E27FC236}">
                <a16:creationId xmlns:a16="http://schemas.microsoft.com/office/drawing/2014/main" id="{2FFD3041-3E6E-B72C-F8F8-8C482594C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953" y="2667680"/>
            <a:ext cx="1522640" cy="152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9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4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7A2FFF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2593</TotalTime>
  <Words>1037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Bahnschrift</vt:lpstr>
      <vt:lpstr>Berlin Sans FB Demi</vt:lpstr>
      <vt:lpstr>Calibri</vt:lpstr>
      <vt:lpstr>Century Gothic</vt:lpstr>
      <vt:lpstr>Segoe UI</vt:lpstr>
      <vt:lpstr>Segoe UI Semibold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17</cp:revision>
  <dcterms:created xsi:type="dcterms:W3CDTF">2025-11-04T13:22:58Z</dcterms:created>
  <dcterms:modified xsi:type="dcterms:W3CDTF">2025-11-08T11:47:49Z</dcterms:modified>
</cp:coreProperties>
</file>